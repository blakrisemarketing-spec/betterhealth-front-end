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11480" y="190195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WORKSHOP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Automation — In 60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502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20840" y="841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Understanding OpenClaw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20840" y="14538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Prompt frameworks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206654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Skill: Expense Tracker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679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Skill: Performance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Images with Nana Banana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9044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Video with Seedance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" y="4663440"/>
            <a:ext cx="6400800" cy="27432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7274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Training Guide  |  Beginner Level  |  60 Minutes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1783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OpenClaw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2926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Cal is, how it works, and why it's different  •  10 min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OpenClaw?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023360" cy="4206240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731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is a platform that runs a personal AI agent — named Cal — directly on your computer.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connects to Telegram so you can talk to it from your phone, anywhere, at any time.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always on, remembers context between conversations, and can be taught new skills to handle specific jobs.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640080"/>
            <a:ext cx="4251960" cy="4206240"/>
          </a:xfrm>
          <a:prstGeom prst="rect">
            <a:avLst/>
          </a:prstGeom>
          <a:solidFill>
            <a:srgbClr val="EAF4FB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731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different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21031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051560"/>
            <a:ext cx="21031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515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0515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(via OpenClaw)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673352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1673352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6733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&amp; close 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16733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Always-on, runs in background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295144"/>
            <a:ext cx="2103120" cy="566928"/>
          </a:xfrm>
          <a:prstGeom prst="rect">
            <a:avLst/>
          </a:prstGeom>
          <a:solidFill>
            <a:srgbClr val="DDEBF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295144"/>
            <a:ext cx="2103120" cy="566928"/>
          </a:xfrm>
          <a:prstGeom prst="rect">
            <a:avLst/>
          </a:prstGeom>
          <a:solidFill>
            <a:srgbClr val="E8F8F5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2951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between chats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22951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context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916936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2916936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9169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assistant only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66560" y="29169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taught custom skills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3538728"/>
            <a:ext cx="2103120" cy="566928"/>
          </a:xfrm>
          <a:prstGeom prst="rect">
            <a:avLst/>
          </a:prstGeom>
          <a:solidFill>
            <a:srgbClr val="DDEBF7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3538728"/>
            <a:ext cx="2103120" cy="566928"/>
          </a:xfrm>
          <a:prstGeom prst="rect">
            <a:avLst/>
          </a:prstGeom>
          <a:solidFill>
            <a:srgbClr val="E8F8F5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5387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 to the tool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35387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comes to you via Telegram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9144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doesn't just respond — it thinks, plans, and takes action.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84832"/>
            <a:ext cx="9144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agent. The AI you communicate with via Telegram.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529584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29584"/>
            <a:ext cx="9144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21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9136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capabilities you install into Cal. Like apps for your agent.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64008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640080"/>
            <a:ext cx="9144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731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0241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stores key information so it remembers your preferences and past work.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084832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84832"/>
            <a:ext cx="9144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Heartbeat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check that fires every hour — Cal can act proactively.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529584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29584"/>
            <a:ext cx="91440" cy="1325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621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9136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on your computer where Cal's personality and skills live.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Conversation with Cal Works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" y="1216152"/>
            <a:ext cx="91440" cy="347472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640080"/>
            <a:ext cx="786384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64008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Telegram and type a message to Cal.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517904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" y="2020824"/>
            <a:ext cx="91440" cy="347472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444752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444752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reads your message along with its memory and skill files.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22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" y="2825496"/>
            <a:ext cx="91440" cy="347472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249424"/>
            <a:ext cx="786384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24942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selects the appropriate model and tools based on your request.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" y="3630168"/>
            <a:ext cx="91440" cy="347472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054096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05409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thinks, drafts a response or takes an action.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0120" y="3858768"/>
            <a:ext cx="786384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85876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replies to you on Telegram — usually within seconds.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EBF5FB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Cal is your always-on AI Chief of Staff — not a tool you open and close.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1783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Frameworks &amp; Techniques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2926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talk to Cal so it does exactly what you need  •  10 min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CRAFT Framework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what you get from Cal is directly proportional to the quality of what you put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943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60120" y="1078992"/>
            <a:ext cx="786384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078992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—  Give Cal background about the situation and why you need this.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9436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4708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60120" y="1847088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4708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—  Tell Cal who it should be. 'You are a financial advisor...'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59436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1518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60120" y="2615184"/>
            <a:ext cx="786384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1518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—  State clearly what you want Cal to do. One action per prompt.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594360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832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60120" y="3383280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38328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—  Tell Cal how to structure the output: bullet points, table, letter...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151376"/>
            <a:ext cx="594360" cy="658368"/>
          </a:xfrm>
          <a:prstGeom prst="rect">
            <a:avLst/>
          </a:prstGeom>
          <a:solidFill>
            <a:srgbClr val="B7600A"/>
          </a:solidFill>
          <a:ln w="12700">
            <a:solidFill>
              <a:srgbClr val="B7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513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60120" y="4151376"/>
            <a:ext cx="786384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15137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 —  Specify the register: professional, friendly, concise, persuasive.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vs Strong Prompts — Email Example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task. Completely different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07592"/>
            <a:ext cx="4114800" cy="91440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384048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1508760"/>
            <a:ext cx="36210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me write an email.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307592"/>
            <a:ext cx="4114800" cy="2286000"/>
          </a:xfrm>
          <a:prstGeom prst="rect">
            <a:avLst/>
          </a:prstGeom>
          <a:solidFill>
            <a:srgbClr val="E8F8F5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417320"/>
            <a:ext cx="3840480" cy="205740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01768" y="1508760"/>
            <a:ext cx="362102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my professional assistant.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formal email to my line manager,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Mr. Kwame Asante, requesting approval to attend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West Africa Tech Summit on 14 May.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two reasons why this is relevant to my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in IT support. Keep it under 150 words.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39312"/>
            <a:ext cx="4114800" cy="137160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03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context. No role. No format. No tone.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will produce something generic.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639312"/>
            <a:ext cx="4114800" cy="137160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03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Role  ✓ Context  ✓ Action  ✓ Format  ✓ Tone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CRAFT elements. Cal delivers exactly what you need.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vs Strong Prompts — Summary Example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is the difference between a vague paragraph and a ready-to-use output.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114800" cy="64008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444752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this document.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53312"/>
            <a:ext cx="4114800" cy="132588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444752"/>
            <a:ext cx="38953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the attached text into 5 bullet points.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bullet should be one sentence.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on the main decisions and any action items.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D6A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plain English — for a non-technical audience.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14800" cy="1188720"/>
          </a:xfrm>
          <a:prstGeom prst="rect">
            <a:avLst/>
          </a:prstGeom>
          <a:solidFill>
            <a:srgbClr val="FE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34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context. No format. No audience specified.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will produce something generic and unusable.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4114800" cy="118872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34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Action  ✓ Format  ✓ Scope  ✓ Audience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specified. Output is ready to use.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96512"/>
            <a:ext cx="85953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9651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REFINEMENT PROMPTS — use these after any Cal response: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 it shorter — max 100 words'   |   'Make the tone more formal'   |   'Add a section on [topic]'   |   'Give me 3 alternative versions'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Refinement Loop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get the perfect prompt on the first try. Cal is designed for conversation. Use this loop: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28016" cy="320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188720"/>
            <a:ext cx="781812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23444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 your initial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you know — don't overthink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128016" cy="320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103120"/>
            <a:ext cx="7818120" cy="804672"/>
          </a:xfrm>
          <a:prstGeom prst="rect">
            <a:avLst/>
          </a:prstGeom>
          <a:solidFill>
            <a:srgbClr val="E8F8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14884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Cal's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487168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is missing, off, or needs adjustment.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128016" cy="320040"/>
          </a:xfrm>
          <a:prstGeom prst="rect">
            <a:avLst/>
          </a:prstGeom>
          <a:solidFill>
            <a:srgbClr val="A9CCE3"/>
          </a:solidFill>
          <a:ln w="12700">
            <a:solidFill>
              <a:srgbClr val="A9CC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017520"/>
            <a:ext cx="7818120" cy="80467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06324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 a follow-up instruction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401568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 it shorter' / 'Change tone' / 'Add risks section'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05840" y="3931920"/>
            <a:ext cx="7818120" cy="804672"/>
          </a:xfrm>
          <a:prstGeom prst="rect">
            <a:avLst/>
          </a:prstGeom>
          <a:solidFill>
            <a:srgbClr val="E8F8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977640"/>
            <a:ext cx="7543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until perfect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315968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gets you closer. Usually 2–3 iterations is enough.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people who get the most from AI are not the most skilled — they are the most persistent.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8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1783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Skills for Life &amp; 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2926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reusable AI automations for your specific needs  •  25 min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Skill?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custom instruction set you install into Cal. Once created, trigger it with a simple command — without re-explaining the task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188720"/>
            <a:ext cx="4206240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A SKILL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1887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 SKILL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2996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2996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explain the task every time you need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02996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one command. Cal already knows what to 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4206240" cy="749808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871216"/>
            <a:ext cx="4206240" cy="749808"/>
          </a:xfrm>
          <a:prstGeom prst="rect">
            <a:avLst/>
          </a:prstGeom>
          <a:solidFill>
            <a:srgbClr val="E8F8F5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7121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varies depending on how you phrase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87121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consistent and structured every time.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71246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1246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to remember all the details each 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71246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D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details are locked into the skill file.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EBF8F5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Write a skill file  →  Save to your skills folder  →  Tell Cal  →  Trigger anytime from Telegram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1 — Monthly Expense Tracker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943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LIFE  |  12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skill does: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463040"/>
            <a:ext cx="809244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your list of expenses as a message or pasted 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084832"/>
            <a:ext cx="809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0848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categorises each expense: food, transport, utilities, entertainment, savings...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798064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706624"/>
            <a:ext cx="809244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06624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totals per category and shows percentage breakdown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328416"/>
            <a:ext cx="8092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328416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categories where you overspent (above 30% of income)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365760" cy="3657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3950208"/>
            <a:ext cx="8092440" cy="548640"/>
          </a:xfrm>
          <a:prstGeom prst="rect">
            <a:avLst/>
          </a:prstGeom>
          <a:solidFill>
            <a:srgbClr val="E8F8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950208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recommended budget for next month using the 50/30/20 rule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Tracker — The Skill File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expense-tracker.md  in your OpenClaw skills folder: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402336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51560"/>
            <a:ext cx="8375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expense-tracker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Trigger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when the user says: 'run expense tracker',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'analyse my expenses', or 'monthly budget review'.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Your Role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personal finance assistant. You are practical,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non-judgmental, and Ghana-aware (costs in GHS).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To Do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Ask for expenses — Format: Item — Amount (e.g. Uber — GHS 45)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Ask for their monthly take-home income.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Categorise into: Food | Transport | Utilities | Entertainment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| Personal Care | Savings | Clothing | Other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Output a breakdown table: Category | Amount | %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Flag any category above 30% of income with a warning.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Produce a recommended budget using the 50/30/20 rule.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End with 3 specific money-saving tips.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 Format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1: Expense Breakdown (table)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2: What to Watch (overspending flags)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3: Recommended Budget — Next Month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4: 3 Personalised Tips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Tracker — Hands-On Exercise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into Telegram to activate the skill: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389120" cy="50292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05840"/>
            <a:ext cx="41696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expense tracker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Cal asks for expenses, paste this list (or use your own):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5029200" cy="256032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920240"/>
            <a:ext cx="48097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 — GHS 1200           Electricity — GHS 180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Groceries (weekly x4) — GHS 600    Water — GHS 40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Uber/transport — GHS 320   Lunch at work — GHS 400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DSTV — GHS 90             Airtime &amp; data — GHS 150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Drinks &amp; outings — GHS 280   Clothing — GHS 200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Haircut/personal care — GHS 120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Church/tithe — GHS 200    Sending money home — GHS 300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Savings — GHS 500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4480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tell Cal your income: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5,500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508760"/>
            <a:ext cx="3474720" cy="3474720"/>
          </a:xfrm>
          <a:prstGeom prst="rect">
            <a:avLst/>
          </a:prstGeom>
          <a:solidFill>
            <a:srgbClr val="E8F8F5"/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OBSERVE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1965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Cal categorises expenses automatically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% breakdown — does it surprise you?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personalised tips for your situation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41605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a different income — watch the budget change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2 — Quarterly Performance Review Deck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943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 |  13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skill takes your achievements and work highlights, then builds a complete professional PowerPoint presentation — ready to share with your manager at your quarterly review.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8 slides Cal will build for you: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48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384048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 —  Name, Title, Quarter, Year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62072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620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86207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6207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at a Glance  —  3 headline achievements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575304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753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575304"/>
            <a:ext cx="384048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7530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 —  Detailed breakdown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288536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885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4288536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28853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  —  Metrics and measurable outcomes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148840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66360" y="2148840"/>
            <a:ext cx="384048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Response  —  How you handled obstacles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2862072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8620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66360" y="286207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862072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for Next Quarter  —  Forward-looking objectives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3575304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753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66360" y="3575304"/>
            <a:ext cx="384048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575304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Plan to Grow  —  Development areas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4288536"/>
            <a:ext cx="4572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2885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66360" y="4288536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4288536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/ Q&amp;A  —  Close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Review — The Skill File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performance-review.md  in your OpenClaw skills folder: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74904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5156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performance-review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Trigger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when the user says: 'run performance review',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'build my quarterly deck', or 'prepare appraisal slides'.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Your Role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career coach and presentation designer.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the user present their work in the best possible light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professional, confident, evidence-based, and concise.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1 — Collect from user: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job title, quarter/year, manager's name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3-5 key achievements | 2-3 metrics | 1-2 challenges | 2-3 next goals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2 — Build 8 PowerPoint slides (see slide structure)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 3 — Deliver the .pptx file to the user.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Tone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 and professional. Use action verbs. Quantify wherever possible.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Review — Hands-On Exercise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 Telegram: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389120" cy="45720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05840"/>
            <a:ext cx="41696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Cal asks for details, use this sample (or your own real data):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5349240" cy="3200400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874520"/>
            <a:ext cx="512978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Abena Mensah | Title: Customer Experience Officer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Quarter: Q1 2026  |  Manager: Mr. Kofi Boateng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Achievements: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Reduced complaint resolution from 5 days → 2 days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Trained 4 new team members on the CRM system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Introduced a follow-up checklist adopted by the whole team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Customer satisfaction: 71% → 88%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Handled 340 cases this quarter (up from 290)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quarter goals: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Launch customer feedback survey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Achieve 90%+ satisfaction rating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0" y="1783080"/>
            <a:ext cx="3108960" cy="3200400"/>
          </a:xfrm>
          <a:prstGeom prst="rect">
            <a:avLst/>
          </a:prstGeom>
          <a:solidFill>
            <a:srgbClr val="EBF5FB"/>
          </a:solidFill>
          <a:ln w="254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OBSERVE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22128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Cal turns rough notes into polished presentation language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28986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verbs and confident framing — Cal makes your work sound strong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89320" y="35844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the .pptx from Telegram — it's ready to present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42702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 Cal to adjust any slide via follow-up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C34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1783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Generation with Nana Banana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2926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 image in words — get a professional visual in seconds  •  7 min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Image Prompt Framework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 Banana is an AI image generation model available through OpenClaw. You describe an image in words and it generates a high-quality visual in seconds.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great image prompt answers 5 questions: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645920" cy="6217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65960" y="1463040"/>
            <a:ext cx="6903720" cy="621792"/>
          </a:xfrm>
          <a:prstGeom prst="rect">
            <a:avLst/>
          </a:prstGeom>
          <a:solidFill>
            <a:srgbClr val="F3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463040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or what is the main focus of the image?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645920" cy="62179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65960" y="2194560"/>
            <a:ext cx="6903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194560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 (indoor, outdoor, city, nature, abstract)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1645920" cy="621792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2608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65960" y="2926080"/>
            <a:ext cx="6903720" cy="621792"/>
          </a:xfrm>
          <a:prstGeom prst="rect">
            <a:avLst/>
          </a:prstGeom>
          <a:solidFill>
            <a:srgbClr val="F3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926080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look like? (photorealistic, illustration, 3D render)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1645920" cy="6217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5760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65960" y="3657600"/>
            <a:ext cx="6903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657600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light like? (golden hour, studio lighting, dramatic shadows)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389120"/>
            <a:ext cx="1645920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389120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Mood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965960" y="4389120"/>
            <a:ext cx="6903720" cy="621792"/>
          </a:xfrm>
          <a:prstGeom prst="rect">
            <a:avLst/>
          </a:prstGeom>
          <a:solidFill>
            <a:srgbClr val="F3EE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389120"/>
            <a:ext cx="6629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feeling should the image create? (confident, calm, energetic, professional)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Nana Banana — Exercise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Telegram, send: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5029200" cy="475488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24128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an image using Nana Banana: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follow with your image prompt. Try one of these: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874520"/>
            <a:ext cx="2743200" cy="3063240"/>
          </a:xfrm>
          <a:prstGeom prst="rect">
            <a:avLst/>
          </a:prstGeom>
          <a:solidFill>
            <a:srgbClr val="F3EEF8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874520"/>
            <a:ext cx="27432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 — Professional Portrait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304288"/>
            <a:ext cx="2560320" cy="251460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234086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confident young Ghanaian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man in his late 20s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in a modern co-working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 in Accra. Smart casual outfit.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Warm, professional lighting.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Photorealistic. Inspiring mood.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63824" y="1874520"/>
            <a:ext cx="2743200" cy="3063240"/>
          </a:xfrm>
          <a:prstGeom prst="rect">
            <a:avLst/>
          </a:prstGeom>
          <a:solidFill>
            <a:srgbClr val="F3EEF8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1874520"/>
            <a:ext cx="27432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 — Business Visual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55264" y="2304288"/>
            <a:ext cx="2560320" cy="251460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64992" y="2395728"/>
            <a:ext cx="234086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sleek digital health dashboard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 laptop screen. Modern flat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 Teal and white colour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scheme. Clean desk environment.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 studio lighting.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tech aesthetic.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874520"/>
            <a:ext cx="2743200" cy="3063240"/>
          </a:xfrm>
          <a:prstGeom prst="rect">
            <a:avLst/>
          </a:prstGeom>
          <a:solidFill>
            <a:srgbClr val="F3EEF8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874520"/>
            <a:ext cx="27432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3 — Write Your Own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2304288"/>
            <a:ext cx="2560320" cy="251460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2784" y="2395728"/>
            <a:ext cx="234086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 of an image useful for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work or personal life.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5 elements: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/ Setting / Style 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Lighting / Mood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8B6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371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7472" y="17830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Generation with Seedance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47472" y="2926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short, cinematic video clips from a text description  •  8 min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Seedance — Image vs Video Prompts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Seedance generates short AI video clips via OpenClaw. Videos take 1–3 minutes and are delivered directly to you on Telegram.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097280"/>
            <a:ext cx="4206240" cy="56692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PROMPTS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0972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PROMPTS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3736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frozen moment in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motion, movement, and what changes over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206240" cy="566928"/>
          </a:xfrm>
          <a:prstGeom prst="rect">
            <a:avLst/>
          </a:prstGeom>
          <a:solidFill>
            <a:srgbClr val="FEF9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377440"/>
            <a:ext cx="4206240" cy="566928"/>
          </a:xfrm>
          <a:prstGeom prst="rect">
            <a:avLst/>
          </a:prstGeom>
          <a:solidFill>
            <a:srgbClr val="FEF9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things look like.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things are doing.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175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prompts work well.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 about movement gives better results.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206240" cy="566928"/>
          </a:xfrm>
          <a:prstGeom prst="rect">
            <a:avLst/>
          </a:prstGeom>
          <a:solidFill>
            <a:srgbClr val="FEF9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657600"/>
            <a:ext cx="4206240" cy="566928"/>
          </a:xfrm>
          <a:prstGeom prst="rect">
            <a:avLst/>
          </a:prstGeom>
          <a:solidFill>
            <a:srgbClr val="FEF9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under 10 seconds.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576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takes 1 to 3 minutes.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TO YOUR IMAGE PROMPT: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4343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 (what is moving &amp; how)  |  Camera  (still, zoom, tracking, aerial)  |  Duration  (5 or 10 seconds)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Seedance — Exercise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Telegram, send: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5029200" cy="475488"/>
          </a:xfrm>
          <a:prstGeom prst="rect">
            <a:avLst/>
          </a:prstGeom>
          <a:solidFill>
            <a:srgbClr val="1C2833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24128"/>
            <a:ext cx="480974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 video using Seedance: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send your video prompt. Choose one: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874520"/>
            <a:ext cx="2743200" cy="2743200"/>
          </a:xfrm>
          <a:prstGeom prst="rect">
            <a:avLst/>
          </a:prstGeom>
          <a:solidFill>
            <a:srgbClr val="FEF9E7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874520"/>
            <a:ext cx="274320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 — Accra Skyline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304288"/>
            <a:ext cx="2560320" cy="219456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95728"/>
            <a:ext cx="23408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slow cinematic pan across the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Accra skyline at golden hour.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 buildings mixed with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colourful older structures.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 orange light. Camera moves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slowly left to right. 8 seconds.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Cinematic, inspiring mood.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63824" y="1874520"/>
            <a:ext cx="2743200" cy="2743200"/>
          </a:xfrm>
          <a:prstGeom prst="rect">
            <a:avLst/>
          </a:prstGeom>
          <a:solidFill>
            <a:srgbClr val="FEF9E7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1874520"/>
            <a:ext cx="274320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 — Professional Scene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55264" y="2304288"/>
            <a:ext cx="2560320" cy="219456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64992" y="2395728"/>
            <a:ext cx="23408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young Ghanaian professional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woman walks confidently through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bright modern office, greeting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colleagues. Natural daylight.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 tracks her movement.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seconds. Documentary style.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and energetic.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71616" y="1874520"/>
            <a:ext cx="2743200" cy="2743200"/>
          </a:xfrm>
          <a:prstGeom prst="rect">
            <a:avLst/>
          </a:prstGeom>
          <a:solidFill>
            <a:srgbClr val="FEF9E7"/>
          </a:solidFill>
          <a:ln w="12700">
            <a:solidFill>
              <a:srgbClr val="C89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874520"/>
            <a:ext cx="2743200" cy="34747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3 — Your Own Scene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2304288"/>
            <a:ext cx="2560320" cy="2194560"/>
          </a:xfrm>
          <a:prstGeom prst="rect">
            <a:avLst/>
          </a:prstGeom>
          <a:solidFill>
            <a:srgbClr val="0A2E33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2784" y="2395728"/>
            <a:ext cx="23408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Think: a product in motion,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location for your brand,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a lifestyle scene.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Add: motion + camera instructions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your image prompt framework.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generate it.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FEF9E7"/>
          </a:solidFill>
          <a:ln w="25400">
            <a:solidFill>
              <a:srgbClr val="C896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Download  •  Share on LinkedIn / Instagram / TikTok  •  Refine and regenerate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Starter Prompt Library (1/2)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these. Customise the brackets. Use them this week.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email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960120"/>
            <a:ext cx="672084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00584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my assistant. Write a formal email to [name] about [topic]. Under [X] words.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830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 summary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783080"/>
            <a:ext cx="6720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182880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these notes into a meeting summary with action items: [paste notes]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060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 reply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2606040"/>
            <a:ext cx="672084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7712" y="265176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[client/colleague] said: "[message]". Write a professional, calm response.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brief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3429000"/>
            <a:ext cx="6720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7712" y="347472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me 5 key facts about [topic] in plain English. I need this for a meeting.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25196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2519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my week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48840" y="4251960"/>
            <a:ext cx="672084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429768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me plan my week. Tasks: [list]. I work [hours]. Deadline: [day].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Starter Prompt Library (2/2)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tracker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640080"/>
            <a:ext cx="672084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7712" y="68580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expense tracker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deck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1463040"/>
            <a:ext cx="6720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150876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performance 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8600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writing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2286000"/>
            <a:ext cx="672084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233172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Rewrite this to sound more professional and confident: [paste your text]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0896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image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3108960"/>
            <a:ext cx="6720840" cy="713232"/>
          </a:xfrm>
          <a:prstGeom prst="rect">
            <a:avLst/>
          </a:prstGeom>
          <a:solidFill>
            <a:srgbClr val="EBF5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315468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an image using Nana Banana: [subject, setting, style, lighting, mood]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182880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319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video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3931920"/>
            <a:ext cx="6720840" cy="713232"/>
          </a:xfrm>
          <a:prstGeom prst="rect">
            <a:avLst/>
          </a:prstGeom>
          <a:solidFill>
            <a:srgbClr val="F2F4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3977640"/>
            <a:ext cx="6492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a video using Seedance: [subject, motion, camera, style, duration]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486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HABIT THAT WILL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841248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A9CC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9659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spend more than 5 minutes on any writing, research, or creative task — message Cal first.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surprised what it can already 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3291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get the most value from AI are not the ones who know the most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ones who try the most.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4114800"/>
            <a:ext cx="8412480" cy="36576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2245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896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 Now go build something.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AI Agent Workshop</dc:title>
  <dc:subject>PptxGenJS Presentation</dc:subject>
  <dc:creator>OpenClaw</dc:creator>
  <cp:lastModifiedBy>OpenClaw</cp:lastModifiedBy>
  <cp:revision>1</cp:revision>
  <dcterms:created xsi:type="dcterms:W3CDTF">2026-04-11T13:57:50Z</dcterms:created>
  <dcterms:modified xsi:type="dcterms:W3CDTF">2026-04-11T13:57:50Z</dcterms:modified>
</cp:coreProperties>
</file>